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15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7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965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2664A"/>
          </a:solidFill>
          <a:ln w="12700">
            <a:solidFill>
              <a:srgbClr val="D266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" y="1965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E8E8A"/>
          </a:solidFill>
          <a:ln w="12700">
            <a:solidFill>
              <a:srgbClr val="3E8E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1965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Kohler AI Bathroom Studio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constraints, one LLM call — split by design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77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F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Kohler's actual product catalog — real SKUs, names, prices, and dimensions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submission — KOHLER-MITWPU AI Research Lab Program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6035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three plain-language inputs — room size, budget, and style — into a bundle a customer can actually buy</a:t>
            </a:r>
            <a:endParaRPr lang="en-US" sz="1550" dirty="0"/>
          </a:p>
          <a:p>
            <a:pPr algn="l"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must be physically real: it has to fit the room, fit the budget, and exist in the catalog</a:t>
            </a:r>
            <a:endParaRPr lang="en-US" sz="1550" dirty="0"/>
          </a:p>
          <a:p>
            <a:pPr algn="l"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shortcut — one LLM call designs the whole bathroom — breaks exactly on those three guarantees</a:t>
            </a:r>
            <a:endParaRPr lang="en-US" sz="1550" dirty="0"/>
          </a:p>
          <a:p>
            <a:pPr algn="l"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has to be explainable — the customer needs a plain-language reason to trust each choice, not just a correct one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6035040" cy="685800"/>
          </a:xfrm>
          <a:prstGeom prst="roundRect">
            <a:avLst>
              <a:gd name="adj" fmla="val 1333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55321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brief: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ft × 7 ft room  ·  ₹60,000 budget  ·  Modern style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508760"/>
            <a:ext cx="4663440" cy="4709160"/>
          </a:xfrm>
          <a:prstGeom prst="roundRect">
            <a:avLst>
              <a:gd name="adj" fmla="val 235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must be true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2423160"/>
            <a:ext cx="502920" cy="502920"/>
          </a:xfrm>
          <a:prstGeom prst="ellipse">
            <a:avLst/>
          </a:prstGeom>
          <a:solidFill>
            <a:srgbClr val="D2664A"/>
          </a:solidFill>
          <a:ln w="12700">
            <a:solidFill>
              <a:srgbClr val="D266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room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27340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real footprints, not estimated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3566160"/>
            <a:ext cx="502920" cy="502920"/>
          </a:xfrm>
          <a:prstGeom prst="ellipse">
            <a:avLst/>
          </a:prstGeom>
          <a:solidFill>
            <a:srgbClr val="D2664A"/>
          </a:solidFill>
          <a:ln w="12700">
            <a:solidFill>
              <a:srgbClr val="D266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3538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budget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38770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totals, exhaustively verified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4709160"/>
            <a:ext cx="502920" cy="502920"/>
          </a:xfrm>
          <a:prstGeom prst="ellipse">
            <a:avLst/>
          </a:prstGeom>
          <a:solidFill>
            <a:srgbClr val="D2664A"/>
          </a:solidFill>
          <a:ln w="12700">
            <a:solidFill>
              <a:srgbClr val="D266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4681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Kohler SKU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50200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from the catalog, never invented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806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E8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three, checked before the LLM ever runs.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296144" y="6355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749"/>
          </a:solidFill>
          <a:ln w="12700">
            <a:solidFill>
              <a:srgbClr val="0E47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0" y="6355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D2664A"/>
          </a:solidFill>
          <a:ln w="12700">
            <a:solidFill>
              <a:srgbClr val="D266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17936" y="6355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E8E8A"/>
          </a:solidFill>
          <a:ln w="12700">
            <a:solidFill>
              <a:srgbClr val="3E8E8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LLM call isn't enough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3E8E8A"/>
          </a:solidFill>
          <a:ln w="12700">
            <a:solidFill>
              <a:srgbClr val="3E8E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reasoning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830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900 mm vanity plus a 900 mm shower actually fit a 10 ft wall once clearances are included? That's arithmetic over real dimensions, not language understanding.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3E8E8A"/>
          </a:solidFill>
          <a:ln w="12700">
            <a:solidFill>
              <a:srgbClr val="3E8E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88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arithmetic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2004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exact five-SKU combination sum to under the customer's budget? Token generation is not a calculator, and a plausible total is not a verified one.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3E8E8A"/>
          </a:solidFill>
          <a:ln w="12700">
            <a:solidFill>
              <a:srgbClr val="3E8E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2062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grounding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6177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to design freely from a catalog, an LLM can still return a plausible-sounding SKU name or spec that doesn't actually exist.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edge cases — they're the default behavior of a generative model asked to do deterministic work.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296144" y="6355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749"/>
          </a:solidFill>
          <a:ln w="12700">
            <a:solidFill>
              <a:srgbClr val="0E47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07040" y="6355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D2664A"/>
          </a:solidFill>
          <a:ln w="12700">
            <a:solidFill>
              <a:srgbClr val="D266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17936" y="6355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E8E8A"/>
          </a:solidFill>
          <a:ln w="12700">
            <a:solidFill>
              <a:srgbClr val="3E8E8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the system: hard constraints vs. aesthetic judgment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DCEDEB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— hard constraints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46634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code — zero AI calls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search across real catalog data, not an approximation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search space (~5 categories × ~8 options) — checked exactly, never approximated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room fit, clearances, and budget before anything reaches the LLM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excluded product gets a stated reason, down to the exact inches short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validated shortlist per category — never a single guess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50876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F6DCD1"/>
          </a:solidFill>
          <a:ln w="12700">
            <a:solidFill>
              <a:srgbClr val="F6DCD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7830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 — LLM reasoning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331720"/>
            <a:ext cx="46634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LLM call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most style-coherent bundle from Stage A's top 5 pre-validated options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finish, material, and style tags — never price or dimensions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invent a new combination — only chooses an index into Stage A's list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chosen index is validated as one Stage A actually offered, not trusted blindly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Stage A's own top bundle if the API call fails, with a clear on-screen notice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LLM reasons badly, it cannot return an over-budget, invalid, or non-existent recommendation.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flows through the system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CECE8"/>
          </a:solidFill>
          <a:ln w="12700">
            <a:solidFill>
              <a:srgbClr val="ECE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0756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· budget · style · layout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D9EDEB"/>
          </a:solidFill>
          <a:ln w="12700">
            <a:solidFill>
              <a:srgbClr val="D9ED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20756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2446020"/>
            <a:ext cx="182880" cy="0"/>
          </a:xfrm>
          <a:prstGeom prst="line">
            <a:avLst/>
          </a:prstGeom>
          <a:noFill/>
          <a:ln w="19050">
            <a:solidFill>
              <a:srgbClr val="5C6B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6DCD1"/>
          </a:solidFill>
          <a:ln w="12700">
            <a:solidFill>
              <a:srgbClr val="F6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0756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style pick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446020"/>
            <a:ext cx="182880" cy="0"/>
          </a:xfrm>
          <a:prstGeom prst="line">
            <a:avLst/>
          </a:prstGeom>
          <a:noFill/>
          <a:ln w="19050">
            <a:solidFill>
              <a:srgbClr val="5C6B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9516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BFE0DD"/>
          </a:solidFill>
          <a:ln w="12700">
            <a:solidFill>
              <a:srgbClr val="BFE0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95160" y="20756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+ 3D render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2446020"/>
            <a:ext cx="182880" cy="0"/>
          </a:xfrm>
          <a:prstGeom prst="line">
            <a:avLst/>
          </a:prstGeom>
          <a:noFill/>
          <a:ln w="19050">
            <a:solidFill>
              <a:srgbClr val="5C6B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1965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CECE8"/>
          </a:solidFill>
          <a:ln w="12700">
            <a:solidFill>
              <a:srgbClr val="ECEC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0" y="20756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floorplan · bundle · rationale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2446020"/>
            <a:ext cx="182880" cy="0"/>
          </a:xfrm>
          <a:prstGeom prst="line">
            <a:avLst/>
          </a:prstGeom>
          <a:noFill/>
          <a:ln w="19050">
            <a:solidFill>
              <a:srgbClr val="5C6B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26980" y="2926080"/>
            <a:ext cx="0" cy="1051560"/>
          </a:xfrm>
          <a:prstGeom prst="line">
            <a:avLst/>
          </a:prstGeom>
          <a:noFill/>
          <a:ln w="19050">
            <a:solidFill>
              <a:srgbClr val="5C6B6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0" y="3977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D9EDEB"/>
          </a:solidFill>
          <a:ln w="12700">
            <a:solidFill>
              <a:srgbClr val="D9ED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0" y="4087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4480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refinement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78140" y="4457700"/>
            <a:ext cx="1165860" cy="0"/>
          </a:xfrm>
          <a:prstGeom prst="line">
            <a:avLst/>
          </a:prstGeom>
          <a:noFill/>
          <a:ln w="19050">
            <a:solidFill>
              <a:srgbClr val="5C6B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978140" y="2926080"/>
            <a:ext cx="0" cy="1531620"/>
          </a:xfrm>
          <a:prstGeom prst="line">
            <a:avLst/>
          </a:prstGeom>
          <a:noFill/>
          <a:ln w="19050">
            <a:solidFill>
              <a:srgbClr val="5C6B6A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7155180" y="39547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layouts.py is the single shared source of geometry: Stage A's feasibility check, the 2D floorplan, and the 3D scene all read the same wall-local coordinates — so they can never disagree about where a fixture sits.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63550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CECE8"/>
          </a:solidFill>
          <a:ln w="6350">
            <a:solidFill>
              <a:srgbClr val="5C6B6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6309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63550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EDEB"/>
          </a:solidFill>
          <a:ln w="6350">
            <a:solidFill>
              <a:srgbClr val="5C6B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75888" y="6309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63550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6DCD1"/>
          </a:solidFill>
          <a:ln w="6350">
            <a:solidFill>
              <a:srgbClr val="5C6B6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10528" y="6309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 real input vs. fixed by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8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sits on top of Kohler's actual product catalog — real SKU names, prices, and printed dimensions, not a synthetic demo dataset.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real inputs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width &amp; depth (ft)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(INR)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— Modern / Classic Luxury / Japanese Zen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— single wall / L-shaped / opposite walls, or Auto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508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things fixed by design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96596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height (8 ft) — no per-product mounting data exists to size it from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mounting heights — industry-typical, for a stylized 3D view only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Vanity &amp; shower “zones” — planning proxies, not real purchasable SKUs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tier (1–5) — derived from relative price, not an official Kohler rating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“Auto” picks a layout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shallow room →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wall. 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square →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L-shaped corner shower. 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than wide →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walls.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is tried in that order; the first one that fits the room and still leaves space for a real catalog toilet wins.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(names, SKUs, prices, printed dimensions) comes from the official Kohler Projects Lookbook; only spatial, style, and quality-tier metadata is derived — and labeled as such.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96144" y="6355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749"/>
          </a:solidFill>
          <a:ln w="12700">
            <a:solidFill>
              <a:srgbClr val="0E47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0" y="6355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D2664A"/>
          </a:solidFill>
          <a:ln w="12700">
            <a:solidFill>
              <a:srgbClr val="D266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7936" y="6355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E8E8A"/>
          </a:solidFill>
          <a:ln w="12700">
            <a:solidFill>
              <a:srgbClr val="3E8E8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47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005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E3A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INNOVATION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is never the source of truth for anything with a right answer.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4023360"/>
            <a:ext cx="9052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 customer could hold Kohler accountable for is verified in code before the LLM ever sees it. If Stage B fails, the system falls back to Stage A's own top bundle — LLM failure becomes a degraded experience, never a wrong recommendation.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5623560"/>
            <a:ext cx="4846320" cy="0"/>
          </a:xfrm>
          <a:prstGeom prst="line">
            <a:avLst/>
          </a:prstGeom>
          <a:noFill/>
          <a:ln w="9525">
            <a:solidFill>
              <a:srgbClr val="1D5B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57607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A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split:  </a:t>
            </a:r>
            <a:pPr algn="ctr" indent="0" marL="0">
              <a:buNone/>
            </a:pPr>
            <a:r>
              <a:rPr lang="en-US" sz="13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freely-designing LLM can invent a SKU that doesn't exist.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61081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split:  </a:t>
            </a:r>
            <a:pPr algn="ctr" indent="0" marL="0">
              <a:buNone/>
            </a:pPr>
            <a:r>
              <a:rPr lang="en-US" sz="13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 can only return an index into bundles Stage A already verified.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47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31520" y="5486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advancements &amp; system roadmap</a:t>
            </a:r>
            <a:endParaRPr lang="en-US" sz="3000" dirty="0"/>
          </a:p>
        </p:txBody>
      </p:sp>
      <p:sp>
        <p:nvSpPr>
          <p:cNvPr id="3" name="Text 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directions, each building on Stage A's deterministic core</a:t>
            </a:r>
            <a:endParaRPr lang="en-US" sz="1300" dirty="0"/>
          </a:p>
        </p:txBody>
      </p:sp>
      <p:sp>
        <p:nvSpPr>
          <p:cNvPr id="4" name="Card 4"/>
          <p:cNvSpPr/>
          <p:nvPr/>
        </p:nvSpPr>
        <p:spPr>
          <a:xfrm>
            <a:off x="731520" y="1737360"/>
            <a:ext cx="5234940" cy="2194560"/>
          </a:xfrm>
          <a:prstGeom prst="roundRect">
            <a:avLst>
              <a:gd name="adj" fmla="val 3500"/>
            </a:avLst>
          </a:prstGeom>
          <a:solidFill>
            <a:srgbClr val="176064"/>
          </a:solidFill>
          <a:ln w="12700">
            <a:solidFill>
              <a:srgbClr val="176064"/>
            </a:solidFill>
            <a:prstDash val="solid"/>
          </a:ln>
        </p:spPr>
      </p:sp>
      <p:sp>
        <p:nvSpPr>
          <p:cNvPr id="5" name="Badge 5"/>
          <p:cNvSpPr/>
          <p:nvPr/>
        </p:nvSpPr>
        <p:spPr>
          <a:xfrm>
            <a:off x="914400" y="1920240"/>
            <a:ext cx="356616" cy="356616"/>
          </a:xfrm>
          <a:prstGeom prst="ellipse">
            <a:avLst/>
          </a:prstGeom>
          <a:solidFill>
            <a:srgbClr val="D2664A"/>
          </a:solidFill>
          <a:ln w="12700">
            <a:solidFill>
              <a:srgbClr val="D2664A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914400" y="192024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7"/>
          <p:cNvSpPr txBox="1"/>
          <p:nvPr/>
        </p:nvSpPr>
        <p:spPr>
          <a:xfrm>
            <a:off x="1408176" y="1920240"/>
            <a:ext cx="43754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AI-mesh 3D pipeline</a:t>
            </a:r>
            <a:endParaRPr lang="en-US" sz="1600" dirty="0"/>
          </a:p>
        </p:txBody>
      </p:sp>
      <p:sp>
        <p:nvSpPr>
          <p:cNvPr id="8" name="Text 8"/>
          <p:cNvSpPr txBox="1"/>
          <p:nvPr/>
        </p:nvSpPr>
        <p:spPr>
          <a:xfrm>
            <a:off x="914400" y="2395728"/>
            <a:ext cx="48691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0025" indent="-200025">
              <a:lnSpc>
                <a:spcPct val="105000"/>
              </a:lnSpc>
              <a:spcAft>
                <a:spcPts val="500"/>
              </a:spcAft>
              <a:buClr>
                <a:srgbClr val="8FC4C0"/>
              </a:buClr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ingestion: </a:t>
            </a: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 turn each new SKU image into a lightweight .glb, no manual CAD</a:t>
            </a:r>
            <a:endParaRPr lang="en-US" sz="1200" dirty="0"/>
          </a:p>
          <a:p>
            <a:pPr marL="200025" indent="-200025">
              <a:lnSpc>
                <a:spcPct val="105000"/>
              </a:lnSpc>
              <a:spcAft>
                <a:spcPts val="500"/>
              </a:spcAft>
              <a:buClr>
                <a:srgbClr val="8FC4C0"/>
              </a:buClr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Single-image reconstruction: </a:t>
            </a: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TripoSR replaces box and cylinder stand-ins for every product category</a:t>
            </a:r>
            <a:endParaRPr lang="en-US" sz="1200" dirty="0"/>
          </a:p>
          <a:p>
            <a:pPr marL="200025" indent="-200025">
              <a:lnSpc>
                <a:spcPct val="105000"/>
              </a:lnSpc>
              <a:spcAft>
                <a:spcPts val="500"/>
              </a:spcAft>
              <a:buClr>
                <a:srgbClr val="8FC4C0"/>
              </a:buClr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Web-ready meshes: </a:t>
            </a: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decimate to under ~15k faces; bake diffuse, specular and roughness maps for Three.js</a:t>
            </a:r>
            <a:endParaRPr lang="en-US" sz="1200" dirty="0"/>
          </a:p>
        </p:txBody>
      </p:sp>
      <p:sp>
        <p:nvSpPr>
          <p:cNvPr id="9" name="Card 9"/>
          <p:cNvSpPr/>
          <p:nvPr/>
        </p:nvSpPr>
        <p:spPr>
          <a:xfrm>
            <a:off x="6195060" y="1737360"/>
            <a:ext cx="5234940" cy="2194560"/>
          </a:xfrm>
          <a:prstGeom prst="roundRect">
            <a:avLst>
              <a:gd name="adj" fmla="val 3500"/>
            </a:avLst>
          </a:prstGeom>
          <a:solidFill>
            <a:srgbClr val="176064"/>
          </a:solidFill>
          <a:ln w="12700">
            <a:solidFill>
              <a:srgbClr val="176064"/>
            </a:solidFill>
            <a:prstDash val="solid"/>
          </a:ln>
        </p:spPr>
      </p:sp>
      <p:sp>
        <p:nvSpPr>
          <p:cNvPr id="10" name="Badge 10"/>
          <p:cNvSpPr/>
          <p:nvPr/>
        </p:nvSpPr>
        <p:spPr>
          <a:xfrm>
            <a:off x="6377940" y="1920240"/>
            <a:ext cx="356616" cy="356616"/>
          </a:xfrm>
          <a:prstGeom prst="ellipse">
            <a:avLst/>
          </a:prstGeom>
          <a:solidFill>
            <a:srgbClr val="D2664A"/>
          </a:solidFill>
          <a:ln w="12700">
            <a:solidFill>
              <a:srgbClr val="D2664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377940" y="192024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2"/>
          <p:cNvSpPr txBox="1"/>
          <p:nvPr/>
        </p:nvSpPr>
        <p:spPr>
          <a:xfrm>
            <a:off x="6871716" y="1920240"/>
            <a:ext cx="43754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spatial layout engine</a:t>
            </a:r>
            <a:endParaRPr lang="en-US" sz="1600" dirty="0"/>
          </a:p>
        </p:txBody>
      </p:sp>
      <p:sp>
        <p:nvSpPr>
          <p:cNvPr id="13" name="Text 13"/>
          <p:cNvSpPr txBox="1"/>
          <p:nvPr/>
        </p:nvSpPr>
        <p:spPr>
          <a:xfrm>
            <a:off x="6377940" y="2395728"/>
            <a:ext cx="48691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0025" indent="-200025">
              <a:lnSpc>
                <a:spcPct val="105000"/>
              </a:lnSpc>
              <a:spcAft>
                <a:spcPts val="500"/>
              </a:spcAft>
              <a:buClr>
                <a:srgbClr val="8FC4C0"/>
              </a:buClr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rectangles: </a:t>
            </a: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polygon floor plans from vertex coordinates, including L-shaped rooms</a:t>
            </a:r>
            <a:endParaRPr lang="en-US" sz="1200" dirty="0"/>
          </a:p>
          <a:p>
            <a:pPr marL="200025" indent="-200025">
              <a:lnSpc>
                <a:spcPct val="105000"/>
              </a:lnSpc>
              <a:spcAft>
                <a:spcPts val="500"/>
              </a:spcAft>
              <a:buClr>
                <a:srgbClr val="8FC4C0"/>
              </a:buClr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 and obstacles: </a:t>
            </a: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clipping for usable wall length, windows, door swings and columns</a:t>
            </a:r>
            <a:endParaRPr lang="en-US" sz="1200" dirty="0"/>
          </a:p>
          <a:p>
            <a:pPr marL="200025" indent="-200025">
              <a:lnSpc>
                <a:spcPct val="105000"/>
              </a:lnSpc>
              <a:spcAft>
                <a:spcPts val="500"/>
              </a:spcAft>
              <a:buClr>
                <a:srgbClr val="8FC4C0"/>
              </a:buClr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Multi-wall zoning: </a:t>
            </a: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vanity on one wall, shower on another, with shared walkway clearance between fixtures</a:t>
            </a:r>
            <a:endParaRPr lang="en-US" sz="1200" dirty="0"/>
          </a:p>
        </p:txBody>
      </p:sp>
      <p:sp>
        <p:nvSpPr>
          <p:cNvPr id="14" name="Card 14"/>
          <p:cNvSpPr/>
          <p:nvPr/>
        </p:nvSpPr>
        <p:spPr>
          <a:xfrm>
            <a:off x="731520" y="4114800"/>
            <a:ext cx="5234940" cy="2194560"/>
          </a:xfrm>
          <a:prstGeom prst="roundRect">
            <a:avLst>
              <a:gd name="adj" fmla="val 3500"/>
            </a:avLst>
          </a:prstGeom>
          <a:solidFill>
            <a:srgbClr val="176064"/>
          </a:solidFill>
          <a:ln w="12700">
            <a:solidFill>
              <a:srgbClr val="176064"/>
            </a:solidFill>
            <a:prstDash val="solid"/>
          </a:ln>
        </p:spPr>
      </p:sp>
      <p:sp>
        <p:nvSpPr>
          <p:cNvPr id="15" name="Badge 15"/>
          <p:cNvSpPr/>
          <p:nvPr/>
        </p:nvSpPr>
        <p:spPr>
          <a:xfrm>
            <a:off x="914400" y="4297680"/>
            <a:ext cx="356616" cy="356616"/>
          </a:xfrm>
          <a:prstGeom prst="ellipse">
            <a:avLst/>
          </a:prstGeom>
          <a:solidFill>
            <a:srgbClr val="D2664A"/>
          </a:solidFill>
          <a:ln w="12700">
            <a:solidFill>
              <a:srgbClr val="D2664A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914400" y="429768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7"/>
          <p:cNvSpPr txBox="1"/>
          <p:nvPr/>
        </p:nvSpPr>
        <p:spPr>
          <a:xfrm>
            <a:off x="1408176" y="4297680"/>
            <a:ext cx="43754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 &amp; hydraulic validation</a:t>
            </a:r>
            <a:endParaRPr lang="en-US" sz="1600" dirty="0"/>
          </a:p>
        </p:txBody>
      </p:sp>
      <p:sp>
        <p:nvSpPr>
          <p:cNvPr id="18" name="Text 18"/>
          <p:cNvSpPr txBox="1"/>
          <p:nvPr/>
        </p:nvSpPr>
        <p:spPr>
          <a:xfrm>
            <a:off x="914400" y="4773168"/>
            <a:ext cx="48691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0025" indent="-200025">
              <a:lnSpc>
                <a:spcPct val="105000"/>
              </a:lnSpc>
              <a:spcAft>
                <a:spcPts val="500"/>
              </a:spcAft>
              <a:buClr>
                <a:srgbClr val="8FC4C0"/>
              </a:buClr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slope: </a:t>
            </a: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grade (about ¼ in per ft) so each fixture drain reaches the waste stack</a:t>
            </a:r>
            <a:endParaRPr lang="en-US" sz="1200" dirty="0"/>
          </a:p>
          <a:p>
            <a:pPr marL="200025" indent="-200025">
              <a:lnSpc>
                <a:spcPct val="105000"/>
              </a:lnSpc>
              <a:spcAft>
                <a:spcPts val="500"/>
              </a:spcAft>
              <a:buClr>
                <a:srgbClr val="8FC4C0"/>
              </a:buClr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graph: </a:t>
            </a: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wall-hung toilet needs an in-wall carrier and a specific stud depth</a:t>
            </a:r>
            <a:endParaRPr lang="en-US" sz="1200" dirty="0"/>
          </a:p>
          <a:p>
            <a:pPr marL="200025" indent="-200025">
              <a:lnSpc>
                <a:spcPct val="105000"/>
              </a:lnSpc>
              <a:spcAft>
                <a:spcPts val="500"/>
              </a:spcAft>
              <a:buClr>
                <a:srgbClr val="8FC4C0"/>
              </a:buClr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pressure: </a:t>
            </a: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valve needs (e.g. thermostatic shower valves at 3.0 bar) before bundles are final</a:t>
            </a:r>
            <a:endParaRPr lang="en-US" sz="1200" dirty="0"/>
          </a:p>
        </p:txBody>
      </p:sp>
      <p:sp>
        <p:nvSpPr>
          <p:cNvPr id="19" name="Card 19"/>
          <p:cNvSpPr/>
          <p:nvPr/>
        </p:nvSpPr>
        <p:spPr>
          <a:xfrm>
            <a:off x="6195060" y="4114800"/>
            <a:ext cx="5234940" cy="2194560"/>
          </a:xfrm>
          <a:prstGeom prst="roundRect">
            <a:avLst>
              <a:gd name="adj" fmla="val 3500"/>
            </a:avLst>
          </a:prstGeom>
          <a:solidFill>
            <a:srgbClr val="176064"/>
          </a:solidFill>
          <a:ln w="12700">
            <a:solidFill>
              <a:srgbClr val="176064"/>
            </a:solidFill>
            <a:prstDash val="solid"/>
          </a:ln>
        </p:spPr>
      </p:sp>
      <p:sp>
        <p:nvSpPr>
          <p:cNvPr id="20" name="Badge 20"/>
          <p:cNvSpPr/>
          <p:nvPr/>
        </p:nvSpPr>
        <p:spPr>
          <a:xfrm>
            <a:off x="6377940" y="4297680"/>
            <a:ext cx="356616" cy="356616"/>
          </a:xfrm>
          <a:prstGeom prst="ellipse">
            <a:avLst/>
          </a:prstGeom>
          <a:solidFill>
            <a:srgbClr val="D2664A"/>
          </a:solidFill>
          <a:ln w="12700">
            <a:solidFill>
              <a:srgbClr val="D2664A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6377940" y="429768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2"/>
          <p:cNvSpPr txBox="1"/>
          <p:nvPr/>
        </p:nvSpPr>
        <p:spPr>
          <a:xfrm>
            <a:off x="6871716" y="4297680"/>
            <a:ext cx="43754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&amp; design intelligence</a:t>
            </a:r>
            <a:endParaRPr lang="en-US" sz="1600" dirty="0"/>
          </a:p>
        </p:txBody>
      </p:sp>
      <p:sp>
        <p:nvSpPr>
          <p:cNvPr id="23" name="Text 23"/>
          <p:cNvSpPr txBox="1"/>
          <p:nvPr/>
        </p:nvSpPr>
        <p:spPr>
          <a:xfrm>
            <a:off x="6377940" y="4773168"/>
            <a:ext cx="48691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0025" indent="-200025">
              <a:lnSpc>
                <a:spcPct val="105000"/>
              </a:lnSpc>
              <a:spcAft>
                <a:spcPts val="500"/>
              </a:spcAft>
              <a:buClr>
                <a:srgbClr val="8FC4C0"/>
              </a:buClr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swaps: </a:t>
            </a: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“replace the vanity with a cheaper matte black one and match the faucet”</a:t>
            </a:r>
            <a:endParaRPr lang="en-US" sz="1200" dirty="0"/>
          </a:p>
          <a:p>
            <a:pPr marL="200025" indent="-200025">
              <a:lnSpc>
                <a:spcPct val="105000"/>
              </a:lnSpc>
              <a:spcAft>
                <a:spcPts val="500"/>
              </a:spcAft>
              <a:buClr>
                <a:srgbClr val="8FC4C0"/>
              </a:buClr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refinement: </a:t>
            </a: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“move the shower to the left corner”, re-validated by Stage A's clearance rules</a:t>
            </a:r>
            <a:endParaRPr lang="en-US" sz="1200" dirty="0"/>
          </a:p>
          <a:p>
            <a:pPr marL="200025" indent="-200025">
              <a:lnSpc>
                <a:spcPct val="105000"/>
              </a:lnSpc>
              <a:spcAft>
                <a:spcPts val="500"/>
              </a:spcAft>
              <a:buClr>
                <a:srgbClr val="8FC4C0"/>
              </a:buClr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trade-offs: </a:t>
            </a: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budget is breached, suggest what to swap, e.g. a mid-tier vanity</a:t>
            </a:r>
            <a:endParaRPr lang="en-US" sz="1200" dirty="0"/>
          </a:p>
        </p:txBody>
      </p:sp>
      <p:sp>
        <p:nvSpPr>
          <p:cNvPr id="24" name="Text 2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out deliberately, not overlooked — built to be honest about what isn't done yet.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 sta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7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stack: deterministic Python core, one Gemini call</a:t>
            </a:r>
            <a:endParaRPr lang="en-US" sz="2600" dirty="0"/>
          </a:p>
        </p:txBody>
      </p:sp>
      <p:sp>
        <p:nvSpPr>
          <p:cNvPr id="3" name="Card 3"/>
          <p:cNvSpPr/>
          <p:nvPr/>
        </p:nvSpPr>
        <p:spPr>
          <a:xfrm>
            <a:off x="548640" y="1417320"/>
            <a:ext cx="3535680" cy="2194560"/>
          </a:xfrm>
          <a:prstGeom prst="roundRect">
            <a:avLst>
              <a:gd name="adj" fmla="val 3500"/>
            </a:avLst>
          </a:prstGeom>
          <a:solidFill>
            <a:srgbClr val="DCEDEB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4" name="Text 4"/>
          <p:cNvSpPr txBox="1"/>
          <p:nvPr/>
        </p:nvSpPr>
        <p:spPr>
          <a:xfrm>
            <a:off x="749808" y="1536192"/>
            <a:ext cx="3133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core</a:t>
            </a:r>
            <a:endParaRPr lang="en-US" sz="1600" dirty="0"/>
          </a:p>
        </p:txBody>
      </p:sp>
      <p:sp>
        <p:nvSpPr>
          <p:cNvPr id="5" name="Text 5"/>
          <p:cNvSpPr txBox="1"/>
          <p:nvPr/>
        </p:nvSpPr>
        <p:spPr>
          <a:xfrm>
            <a:off x="749808" y="2011680"/>
            <a:ext cx="3133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four stages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≥ 3.0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web server, routing, templating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engine (Stage A) uses only the Python standard library</a:t>
            </a:r>
            <a:endParaRPr lang="en-US" sz="1200" dirty="0"/>
          </a:p>
        </p:txBody>
      </p:sp>
      <p:sp>
        <p:nvSpPr>
          <p:cNvPr id="6" name="Card 6"/>
          <p:cNvSpPr/>
          <p:nvPr/>
        </p:nvSpPr>
        <p:spPr>
          <a:xfrm>
            <a:off x="4312920" y="1417320"/>
            <a:ext cx="3535680" cy="2194560"/>
          </a:xfrm>
          <a:prstGeom prst="roundRect">
            <a:avLst>
              <a:gd name="adj" fmla="val 3500"/>
            </a:avLst>
          </a:prstGeom>
          <a:solidFill>
            <a:srgbClr val="F6DCD1"/>
          </a:solidFill>
          <a:ln w="12700">
            <a:solidFill>
              <a:srgbClr val="F6DCD1"/>
            </a:solidFill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4514088" y="1536192"/>
            <a:ext cx="3133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layer</a:t>
            </a:r>
            <a:endParaRPr lang="en-US" sz="1600" dirty="0"/>
          </a:p>
        </p:txBody>
      </p:sp>
      <p:sp>
        <p:nvSpPr>
          <p:cNvPr id="8" name="Text 8"/>
          <p:cNvSpPr txBox="1"/>
          <p:nvPr/>
        </p:nvSpPr>
        <p:spPr>
          <a:xfrm>
            <a:off x="4514088" y="2011680"/>
            <a:ext cx="3133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the google-genai SDK (≥ 0.3.0)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gemini-3.6-flash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Stage B only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for JSON only; chosen index validated against Stage A's list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does math or spatial reasoning</a:t>
            </a:r>
            <a:endParaRPr lang="en-US" sz="1200" dirty="0"/>
          </a:p>
        </p:txBody>
      </p:sp>
      <p:sp>
        <p:nvSpPr>
          <p:cNvPr id="9" name="Card 9"/>
          <p:cNvSpPr/>
          <p:nvPr/>
        </p:nvSpPr>
        <p:spPr>
          <a:xfrm>
            <a:off x="8077200" y="1417320"/>
            <a:ext cx="3535680" cy="2194560"/>
          </a:xfrm>
          <a:prstGeom prst="roundRect">
            <a:avLst>
              <a:gd name="adj" fmla="val 3500"/>
            </a:avLst>
          </a:prstGeom>
          <a:solidFill>
            <a:srgbClr val="DCEDEB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10" name="Text 10"/>
          <p:cNvSpPr txBox="1"/>
          <p:nvPr/>
        </p:nvSpPr>
        <p:spPr>
          <a:xfrm>
            <a:off x="8278368" y="1536192"/>
            <a:ext cx="3133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11"/>
          <p:cNvSpPr txBox="1"/>
          <p:nvPr/>
        </p:nvSpPr>
        <p:spPr>
          <a:xfrm>
            <a:off x="8278368" y="2011680"/>
            <a:ext cx="3133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 / CSS / JavaScript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framework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vendored locally (not CDN), with OrbitControls and GLTFLoader for the 3D viewer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2D floorplan, generated server-side in Python</a:t>
            </a:r>
            <a:endParaRPr lang="en-US" sz="1200" dirty="0"/>
          </a:p>
        </p:txBody>
      </p:sp>
      <p:sp>
        <p:nvSpPr>
          <p:cNvPr id="12" name="Card 12"/>
          <p:cNvSpPr/>
          <p:nvPr/>
        </p:nvSpPr>
        <p:spPr>
          <a:xfrm>
            <a:off x="548640" y="3840480"/>
            <a:ext cx="3535680" cy="2194560"/>
          </a:xfrm>
          <a:prstGeom prst="roundRect">
            <a:avLst>
              <a:gd name="adj" fmla="val 3500"/>
            </a:avLst>
          </a:prstGeom>
          <a:solidFill>
            <a:srgbClr val="DCEDEB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749808" y="3959352"/>
            <a:ext cx="3133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asset generation (optional)</a:t>
            </a:r>
            <a:endParaRPr lang="en-US" sz="1600" dirty="0"/>
          </a:p>
        </p:txBody>
      </p:sp>
      <p:sp>
        <p:nvSpPr>
          <p:cNvPr id="14" name="Text 14"/>
          <p:cNvSpPr txBox="1"/>
          <p:nvPr/>
        </p:nvSpPr>
        <p:spPr>
          <a:xfrm>
            <a:off x="749808" y="4434840"/>
            <a:ext cx="3133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TripoSR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single-image-to-3D reconstruction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torchvision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(CPU build)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torchmcubes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compiled from source (MSVC)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.glb meshes; procedural shapes as fallback</a:t>
            </a:r>
            <a:endParaRPr lang="en-US" sz="1200" dirty="0"/>
          </a:p>
        </p:txBody>
      </p:sp>
      <p:sp>
        <p:nvSpPr>
          <p:cNvPr id="15" name="Card 15"/>
          <p:cNvSpPr/>
          <p:nvPr/>
        </p:nvSpPr>
        <p:spPr>
          <a:xfrm>
            <a:off x="4312920" y="3840480"/>
            <a:ext cx="3535680" cy="2194560"/>
          </a:xfrm>
          <a:prstGeom prst="roundRect">
            <a:avLst>
              <a:gd name="adj" fmla="val 3500"/>
            </a:avLst>
          </a:prstGeom>
          <a:solidFill>
            <a:srgbClr val="DCEDEB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4514088" y="3959352"/>
            <a:ext cx="3133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7" name="Text 17"/>
          <p:cNvSpPr txBox="1"/>
          <p:nvPr/>
        </p:nvSpPr>
        <p:spPr>
          <a:xfrm>
            <a:off x="4514088" y="4434840"/>
            <a:ext cx="3133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JSON catalog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(kohler_catalog.json) — products, prices, spatial and material rules, provenance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stateless, file-based</a:t>
            </a:r>
            <a:endParaRPr lang="en-US" sz="1200" dirty="0"/>
          </a:p>
        </p:txBody>
      </p:sp>
      <p:sp>
        <p:nvSpPr>
          <p:cNvPr id="18" name="Card 18"/>
          <p:cNvSpPr/>
          <p:nvPr/>
        </p:nvSpPr>
        <p:spPr>
          <a:xfrm>
            <a:off x="8077200" y="3840480"/>
            <a:ext cx="3535680" cy="2194560"/>
          </a:xfrm>
          <a:prstGeom prst="roundRect">
            <a:avLst>
              <a:gd name="adj" fmla="val 3500"/>
            </a:avLst>
          </a:prstGeom>
          <a:solidFill>
            <a:srgbClr val="DCEDEB"/>
          </a:solidFill>
          <a:ln w="12700">
            <a:solidFill>
              <a:srgbClr val="DCEDEB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8278368" y="3959352"/>
            <a:ext cx="3133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</p:txBody>
      </p:sp>
      <p:sp>
        <p:nvSpPr>
          <p:cNvPr id="20" name="Text 20"/>
          <p:cNvSpPr txBox="1"/>
          <p:nvPr/>
        </p:nvSpPr>
        <p:spPr>
          <a:xfrm>
            <a:off x="8278368" y="4434840"/>
            <a:ext cx="3133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tests/test_layouts.py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plain-assert tests, run with python or pytest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feasibility across a sweep of room sizes</a:t>
            </a:r>
            <a:endParaRPr lang="en-US" sz="1200" dirty="0"/>
          </a:p>
          <a:p>
            <a:pPr marL="228600" indent="-2286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floorplan and 3D scene agree on every fixture position</a:t>
            </a:r>
            <a:endParaRPr lang="en-US" sz="1200" dirty="0"/>
          </a:p>
        </p:txBody>
      </p:sp>
      <p:sp>
        <p:nvSpPr>
          <p:cNvPr id="21" name="Text 21"/>
          <p:cNvSpPr txBox="1"/>
          <p:nvPr/>
        </p:nvSpPr>
        <p:spPr>
          <a:xfrm>
            <a:off x="548640" y="6172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hybrid: A constraints → B LLM pick → C 2D + 3D render → D keyword refinement (no LLM).</a:t>
            </a:r>
            <a:endParaRPr lang="en-US" sz="1300" dirty="0"/>
          </a:p>
        </p:txBody>
      </p:sp>
      <p:sp>
        <p:nvSpPr>
          <p:cNvPr id="22" name="Shape 22"/>
          <p:cNvSpPr/>
          <p:nvPr/>
        </p:nvSpPr>
        <p:spPr>
          <a:xfrm>
            <a:off x="10296144" y="6355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749"/>
          </a:solidFill>
          <a:ln w="12700">
            <a:solidFill>
              <a:srgbClr val="0E4749"/>
            </a:solidFill>
            <a:prstDash val="solid"/>
          </a:ln>
        </p:spPr>
      </p:sp>
      <p:sp>
        <p:nvSpPr>
          <p:cNvPr id="23" name="Shape 23"/>
          <p:cNvSpPr/>
          <p:nvPr/>
        </p:nvSpPr>
        <p:spPr>
          <a:xfrm>
            <a:off x="10607040" y="6355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D2664A"/>
          </a:solidFill>
          <a:ln w="12700">
            <a:solidFill>
              <a:srgbClr val="D2664A"/>
            </a:solidFill>
            <a:prstDash val="solid"/>
          </a:ln>
        </p:spPr>
      </p:sp>
      <p:sp>
        <p:nvSpPr>
          <p:cNvPr id="24" name="Shape 24"/>
          <p:cNvSpPr/>
          <p:nvPr/>
        </p:nvSpPr>
        <p:spPr>
          <a:xfrm>
            <a:off x="10917936" y="6355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E8E8A"/>
          </a:solidFill>
          <a:ln w="12700">
            <a:solidFill>
              <a:srgbClr val="3E8E8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2026-09-20T16:15:40Z</dcterms:created>
  <dcterms:modified xsi:type="dcterms:W3CDTF">2026-09-20T16:15:40Z</dcterms:modified>
</cp:coreProperties>
</file>